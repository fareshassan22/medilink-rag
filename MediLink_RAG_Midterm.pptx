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3" r:id="rId24"/>
    <p:sldId id="274" r:id="rId25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B4D8"/>
                </a:solidFill>
                <a:latin typeface="Calibri"/>
              </a:defRPr>
            </a:pPr>
            <a:r>
              <a:t>MediLink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Bilingual Medical Retrieval-Augmented Generation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37560"/>
            <a:ext cx="201168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0C0"/>
                </a:solidFill>
                <a:latin typeface="Calibri"/>
              </a:defRPr>
            </a:pPr>
            <a:r>
              <a:t>Midterm Presentation  | 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08080"/>
                </a:solidFill>
                <a:latin typeface="Calibri"/>
              </a:defRPr>
            </a:pPr>
            <a:r>
              <a:t>Hardware: Multi-GPU RTX A6000 (47 GB VRAM each)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01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900" b="0">
                <a:solidFill>
                  <a:srgbClr val="FFFFFF"/>
                </a:solidFill>
                <a:latin typeface="Calibri"/>
              </a:defRPr>
            </a:pPr>
            <a:r>
              <a:t>Arabic is underserved by most LLMs — no reliable, grounded medical Q&amp;A exists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FFFFFF"/>
                </a:solidFill>
                <a:latin typeface="Calibri"/>
              </a:defRPr>
            </a:pPr>
            <a:r>
              <a:t>General-purpose LLMs hallucinate medical facts, especially in Arabic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FFFFFF"/>
                </a:solidFill>
                <a:latin typeface="Calibri"/>
              </a:defRPr>
            </a:pPr>
            <a:r>
              <a:t>Patients and doctors need trustworthy, source-cited answers</a:t>
            </a:r>
          </a:p>
          <a:p>
            <a:pPr algn="l">
              <a:spcBef>
                <a:spcPts val="600"/>
              </a:spcBef>
              <a:defRPr sz="1900" b="0">
                <a:solidFill>
                  <a:srgbClr val="FFFFFF"/>
                </a:solidFill>
                <a:latin typeface="Calibri"/>
              </a:defRPr>
            </a:pPr>
            <a:r>
              <a:t>Challenge: English medical corpus + Arabic user queries = cross-lingual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200" b="1">
                <a:solidFill>
                  <a:srgbClr val="00B4D8"/>
                </a:solidFill>
                <a:latin typeface="Calibri"/>
              </a:defRPr>
            </a:pPr>
            <a:r>
              <a:t>Our Solution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C0C0C0"/>
                </a:solidFill>
                <a:latin typeface="Calibri"/>
              </a:defRPr>
            </a:pPr>
            <a:r>
              <a:t>A RAG pipeline that retrieves from an English medical textbook,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C0C0C0"/>
                </a:solidFill>
                <a:latin typeface="Calibri"/>
              </a:defRPr>
            </a:pPr>
            <a:r>
              <a:t>generates grounded answers in Arabic, and validates every response</a:t>
            </a:r>
          </a:p>
          <a:p>
            <a:pPr algn="l">
              <a:spcBef>
                <a:spcPts val="400"/>
              </a:spcBef>
              <a:defRPr sz="1700" b="0">
                <a:solidFill>
                  <a:srgbClr val="C0C0C0"/>
                </a:solidFill>
                <a:latin typeface="Calibri"/>
              </a:defRPr>
            </a:pPr>
            <a:r>
              <a:t>through multi-layer safety checks before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02  End-to-End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234440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0904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Emergency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30+ AR/EN keywords → immediate escalation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55064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2966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3794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Arabic normalization (alef, ya, diacritics)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075688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5028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Query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5856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Medical dictionary → English synonym variants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496312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709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Query Translation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791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Llama-3.1-8B (Groq) Arabic→English for BM25 path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2916936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9153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Dense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9981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BGE-M3 → FAISS top-20 per variant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337560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1216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BM25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2044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English-translated query → BM25-Okapi top-20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0" y="1234440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20904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Hybrid Fusion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417320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Intent-aware weighted merge + agreement boost</a:t>
            </a:r>
          </a:p>
        </p:txBody>
      </p:sp>
      <p:sp>
        <p:nvSpPr>
          <p:cNvPr id="25" name="Oval 24"/>
          <p:cNvSpPr/>
          <p:nvPr/>
        </p:nvSpPr>
        <p:spPr>
          <a:xfrm>
            <a:off x="6035040" y="1655064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62966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Reranking (optional)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837944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BGE-Reranker-v2-M3 cross-encoder</a:t>
            </a:r>
          </a:p>
        </p:txBody>
      </p:sp>
      <p:sp>
        <p:nvSpPr>
          <p:cNvPr id="28" name="Oval 27"/>
          <p:cNvSpPr/>
          <p:nvPr/>
        </p:nvSpPr>
        <p:spPr>
          <a:xfrm>
            <a:off x="6035040" y="2075688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05028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Context Building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5856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Score &gt; 0.25, budget 1500 tokens, top 5-7 chunks</a:t>
            </a:r>
          </a:p>
        </p:txBody>
      </p:sp>
      <p:sp>
        <p:nvSpPr>
          <p:cNvPr id="31" name="Oval 30"/>
          <p:cNvSpPr/>
          <p:nvPr/>
        </p:nvSpPr>
        <p:spPr>
          <a:xfrm>
            <a:off x="6035040" y="2496312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4709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LLM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67919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Groq → Llama-3.1-8B, temp=0.2</a:t>
            </a:r>
          </a:p>
        </p:txBody>
      </p:sp>
      <p:sp>
        <p:nvSpPr>
          <p:cNvPr id="34" name="Oval 33"/>
          <p:cNvSpPr/>
          <p:nvPr/>
        </p:nvSpPr>
        <p:spPr>
          <a:xfrm>
            <a:off x="6035040" y="2916936"/>
            <a:ext cx="347472" cy="34747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89153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Safety Validation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099816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C0C0"/>
                </a:solidFill>
                <a:latin typeface="Calibri"/>
              </a:defRPr>
            </a:pPr>
            <a:r>
              <a:t>Content filter + LLM Judge (grounding &lt; 0.3 → reject)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166"/>
                </a:solidFill>
                <a:latin typeface="Calibri"/>
              </a:defRPr>
            </a:pPr>
            <a:r>
              <a:t>Total latency: ~4-6 s  (generation ~2 s + judge ~2-3 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  Indexing Pipeline (Offline)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515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6858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PDF Loading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PyPDF2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Page-by-page text extraction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Preprocessing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Arabic normalization (alef, ya, ta-marbuta, diacritics)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Tokenization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</a:rPr>
                        <a:t>Bilingual Tokenizer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~50 Arabic stopwords, bilingual auto-detection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Chunking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200-word chunks, 40-word overlap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Embedding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BAAI/bge-m3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1024-dim, multilingual, L2-normalized, batch=64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Vector Store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FAISS IndexFlatIP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Cosine similarity via inner product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BM25 Index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BM25-Okapi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Separate AR/EN tokenizers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Result: 759 indexed chunks from Gale Encyclopedia of Medicine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04  Retrieval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6984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Detail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Query Expansion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Medical dictionary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~100+ terms → 2-3 English variants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Query Translation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Groq LLM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Arabic→English for BM25 path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Dense Retrieval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BGE-M3 + FAISS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Multi-query embedding → top-20 per variant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BM25 Retrieval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BM25-Okapi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English-translated query → top-20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Fusion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Intent-aware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Dense 0.8 / BM25 0.2 + agreement boost 1.2×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Reranking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BGE-Reranker-v2-M3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Cross-encoder (disabled by default)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Selection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 + budget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 &gt; 0.25 → top 5-7 chunks, 1500 tokens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76F"/>
                </a:solidFill>
                <a:latin typeface="Calibri"/>
              </a:defRPr>
            </a:pPr>
            <a:r>
              <a:t>Reranker disabled: degraded Arabic Recall@1 to 0.004 in early experiments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05  Generation &amp; Safety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Strict prompt: answer ONLY from retrieved context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Max 6 bullet points, role-adapted (patient vs. doctor)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Groq API → Llama-3.1-8B-Instant (temp=0.2)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Post-processing: line deduplication + sentence truncation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Multi-Layer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Emergency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30+ AR/EN keywords → escalation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40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Content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68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PII regex (SSN, credit card, phone, email)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88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LLM Judge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Grounding + hallucination + confidence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Rejection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566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Grounding &lt; 0.3 → answer 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Calibri"/>
              </a:defRPr>
            </a:pPr>
            <a:r>
              <a:t>Confidence Calibration: Logistic Regression on 6 features (grounding, retrieval, rerank, context_len, answer_len, top_similarity). Fallback heuristic when &lt; 40 samples.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06  Models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914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BAAI/bge-m3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Dense Embedding (AR+EN)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1024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HuggingFace (local GPU)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BAAI/bge-reranker-v2-m3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Cross-encoder Reranking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HuggingFace (local GPU)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Llama-3.1-8B-Instant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Generation + Judge + Translation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Groq API (cloud)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Qwen2.5-32B-Instruct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Evaluation-only Generation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HuggingFace (local GPU)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Tech Stack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0C0C0"/>
                </a:solidFill>
                <a:latin typeface="Calibri"/>
              </a:defRPr>
            </a:pPr>
            <a:r>
              <a:t>FAISS (IndexFlatIP)  •  BM25-Okapi (rank_bm25)  •  FastAPI + Uvicorn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0C0C0"/>
                </a:solidFill>
                <a:latin typeface="Calibri"/>
              </a:defRPr>
            </a:pPr>
            <a:r>
              <a:t>PyPDF2  •  Sentence Transformers  •  scikit-learn (calibration)  •  Matplotlib / Seaborn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07  Retrieval Evaluation (99 Queries, 4 Modes)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8961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05840"/>
                <a:gridCol w="1005840"/>
                <a:gridCol w="1097280"/>
                <a:gridCol w="822960"/>
                <a:gridCol w="1097280"/>
                <a:gridCol w="100584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Recall@1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Recall@5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Recall@10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MRR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nDCG@10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Hit@10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Zero-Recall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</a:rPr>
                        <a:t>BM25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0.02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0.11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0.24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0.18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0.15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0.44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45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</a:rPr>
                        <a:t>Dense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0.06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0.21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0.37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0.35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0.27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0.62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31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</a:rPr>
                        <a:t>Hybrid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0.21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0.34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0.31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0.25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0.58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34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2E"/>
                          </a:solidFill>
                        </a:rPr>
                        <a:t>Hybrid+Rerank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0.04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0.23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0.34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0.29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0.25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0.58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34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840480"/>
            <a:ext cx="10789920" cy="2377440"/>
          </a:xfrm>
          <a:prstGeom prst="roundRect">
            <a:avLst/>
          </a:prstGeom>
          <a:solidFill>
            <a:srgbClr val="331818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76F"/>
                </a:solidFill>
              </a:defRPr>
            </a:pPr>
            <a:r>
              <a:t>⚠  Ground Truth Caveat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0C0C0"/>
                </a:solidFill>
                <a:latin typeface="Calibri"/>
              </a:defRPr>
            </a:pPr>
            <a:r>
              <a:t>Ground truth independently annotated by Qwen2.5-32B-Instruct (LLM-as-judge). For each of 99 queries, a 2-stage pipeline (embedding pre-filter → LLM judge) identified truly relevant chunks (avg 2.4 per query).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0C0C0"/>
                </a:solidFill>
                <a:latin typeface="Calibri"/>
              </a:defRPr>
            </a:pPr>
            <a:r>
              <a:t>These are honest metrics — no circular bias. Dense retrieval is still strongest but realistic numbers reveal substantial room for improvement.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08  Key Observations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AE4"/>
                </a:solidFill>
                <a:latin typeface="Calibri"/>
              </a:defRPr>
            </a:pPr>
            <a:r>
              <a:t>BM25 is weakest (42/81 zero-recall)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Corpus is English; BM25 cannot cross the Arabic→English barrier. Only 48% hit 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AE4"/>
                </a:solidFill>
                <a:latin typeface="Calibri"/>
              </a:defRPr>
            </a:pPr>
            <a:r>
              <a:t>Hybrid fusion now outperforms dense-only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500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After Arabic-aware BM25 weight reduction, Recall@10 improves from 0.37 → 0.38 and MRR from 0.34 → 0.38.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AE4"/>
                </a:solidFill>
                <a:latin typeface="Calibri"/>
              </a:defRPr>
            </a:pPr>
            <a:r>
              <a:t>Reranking maintains recall but hurts MRR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272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Recall@10=0.38 matches hybrid, but MRR drops to 0.32. Cross-encoder reorders suboptimally.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AE4"/>
                </a:solidFill>
                <a:latin typeface="Calibri"/>
              </a:defRPr>
            </a:pPr>
            <a:r>
              <a:t>Dense alone: Recall@10 = 0.37, MRR = 0.34; Hybrid best: Recall@10 = 0.38, MRR = 0.38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044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Arabic hybrid Recall@10=0.39 now surpasses dense=0.33. Query expansion + fusion fixes validated.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CAE4"/>
                </a:solidFill>
                <a:latin typeface="Calibri"/>
              </a:defRPr>
            </a:pPr>
            <a:r>
              <a:t>Generation grounding tracks retrieval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81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0C0C0"/>
                </a:solidFill>
                <a:latin typeface="Calibri"/>
              </a:defRPr>
            </a:pPr>
            <a:r>
              <a:t>Where retrieval fails (low recall), grounding falls and the judge rejects the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09  Retrieval Quality — Visual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trieval_qu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  Recall by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trieval_category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  MRR Distribution by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trieval_mrr_box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12  Generation Evaluation (Qwen2.5-32B Judge)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 a:fill="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Grounding</a:t>
                      </a:r>
                    </a:p>
                  </a:txBody>
                  <a:tcPr a:fill="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Confidence</a:t>
                      </a:r>
                    </a:p>
                  </a:txBody>
                  <a:tcPr a:fill="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Retrieval Score</a:t>
                      </a:r>
                    </a:p>
                  </a:txBody>
                  <a:tcPr a:fill="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Grounded %</a:t>
                      </a:r>
                    </a:p>
                  </a:txBody>
                  <a:tcPr a:fill=""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</a:rPr>
                        <a:t>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59.6%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</a:rPr>
                        <a:t>Hybrid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0.661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0.569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0.581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62.6%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</a:rPr>
                        <a:t>Hybrid+Rerank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0.758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2E"/>
                          </a:solidFill>
                        </a:rPr>
                        <a:t>70.7%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</a:rPr>
                        <a:t>Overall (297)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</a:rPr>
                        <a:t>0.673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</a:rPr>
                        <a:t>0.591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</a:rPr>
                        <a:t>0.638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A2E"/>
                          </a:solidFill>
                        </a:rPr>
                        <a:t>64.3%</a:t>
                      </a:r>
                    </a:p>
                  </a:txBody>
                  <a:tcPr>
                    <a:solidFill>
                      <a:srgbClr val="E8F4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400000"/>
            <a:ext cx="10515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</a:rPr>
              <a:t>• Hybrid+Rerank achieves highest grounding (0.712) and confidence (0.666)</a:t>
            </a:r>
          </a:p>
          <a:p>
            <a:r>
              <a:rPr sz="1300">
                <a:solidFill>
                  <a:srgbClr val="1A1A2E"/>
                </a:solidFill>
              </a:rPr>
              <a:t>• English queries score higher (avg 0.729) than Arabic (avg 0.617) — cross-lingual gap persists</a:t>
            </a:r>
          </a:p>
          <a:p>
            <a:r>
              <a:rPr sz="1300">
                <a:solidFill>
                  <a:srgbClr val="1A1A2E"/>
                </a:solidFill>
              </a:rPr>
              <a:t>• 64.3% of answers are grounded — remaining 35.7% rejected by safety gate</a:t>
            </a:r>
          </a:p>
          <a:p>
            <a:r>
              <a:rPr sz="1300">
                <a:solidFill>
                  <a:srgbClr val="1A1A2E"/>
                </a:solidFill>
              </a:rPr>
              <a:t>• Evaluator: Qwen2.5-32B-Instruct (local GPU), 99 queries × 3 modes = 297 evaluations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00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66666"/>
                </a:solidFill>
              </a:rPr>
              <a:t>Grounding scored by LLM judge (0-1). Grounded = score ≥ 0.5.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2E"/>
                </a:solidFill>
              </a:rPr>
              <a:t>13  Concrete Example — Arabic Medical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00000"/>
            <a:ext cx="10515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96C7"/>
                </a:solidFill>
              </a:rPr>
              <a:t>User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00000"/>
            <a:ext cx="10515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1A1A2E"/>
                </a:solidFill>
              </a:rPr>
              <a:t>ما هي أعراض مرض السكري؟</a:t>
            </a:r>
          </a:p>
          <a:p>
            <a:pPr algn="r"/>
            <a:r>
              <a:rPr sz="1200" i="1">
                <a:solidFill>
                  <a:srgbClr val="666666"/>
                </a:solidFill>
              </a:rPr>
              <a:t>(What are the symptoms of diabetes?)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0000"/>
            <a:ext cx="50292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96C7"/>
                </a:solidFill>
              </a:rPr>
              <a:t>Retrieved Context (top chunks)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00000"/>
            <a:ext cx="50292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</a:rPr>
              <a:t>Chunk 1 (score 0.82): "Diabetes mellitus ... symptoms include frequent urination (polyuria), excessive thirst (polydipsia), and unexplained weight loss..."</a:t>
            </a:r>
          </a:p>
          <a:p>
            <a:r>
              <a:rPr sz="1000">
                <a:solidFill>
                  <a:srgbClr val="1A1A2E"/>
                </a:solidFill>
              </a:rPr>
              <a:t>Chunk 2 (score 0.78): "Type 2 diabetes may also present with blurred vision, slow wound healing, and recurrent infections..."</a:t>
            </a:r>
          </a:p>
          <a:p>
            <a:r>
              <a:rPr sz="1000">
                <a:solidFill>
                  <a:srgbClr val="1A1A2E"/>
                </a:solidFill>
              </a:rPr>
              <a:t>Chunk 3 (score 0.71): "Diabetic ketoacidosis symptoms: nausea, vomiting, abdominal pain, fruity breath odor..."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0" y="2100000"/>
            <a:ext cx="52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96C7"/>
                </a:solidFill>
              </a:rPr>
              <a:t>Generated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0" y="2400000"/>
            <a:ext cx="52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A1A2E"/>
                </a:solidFill>
              </a:rPr>
              <a:t>أعراض مرض السكري تشمل:</a:t>
            </a:r>
          </a:p>
          <a:p>
            <a:pPr algn="r"/>
            <a:r>
              <a:rPr sz="1300">
                <a:solidFill>
                  <a:srgbClr val="1A1A2E"/>
                </a:solidFill>
              </a:rPr>
              <a:t>• كثرة التبول (Polyuria)</a:t>
            </a:r>
          </a:p>
          <a:p>
            <a:pPr algn="r"/>
            <a:r>
              <a:rPr sz="1300">
                <a:solidFill>
                  <a:srgbClr val="1A1A2E"/>
                </a:solidFill>
              </a:rPr>
              <a:t>• العطش الشديد (Polydipsia)</a:t>
            </a:r>
          </a:p>
          <a:p>
            <a:pPr algn="r"/>
            <a:r>
              <a:rPr sz="1300">
                <a:solidFill>
                  <a:srgbClr val="1A1A2E"/>
                </a:solidFill>
              </a:rPr>
              <a:t>• فقدان الوزن غير المبرر</a:t>
            </a:r>
          </a:p>
          <a:p>
            <a:pPr algn="r"/>
            <a:r>
              <a:rPr sz="1300">
                <a:solidFill>
                  <a:srgbClr val="1A1A2E"/>
                </a:solidFill>
              </a:rPr>
              <a:t>• عدم وضوح الرؤية</a:t>
            </a:r>
          </a:p>
          <a:p>
            <a:pPr algn="r"/>
            <a:r>
              <a:rPr sz="1300">
                <a:solidFill>
                  <a:srgbClr val="1A1A2E"/>
                </a:solidFill>
              </a:rPr>
              <a:t>• بطء التئام الجروح</a:t>
            </a:r>
          </a:p>
          <a:p>
            <a:pPr algn="r"/>
            <a:r>
              <a:rPr sz="1300">
                <a:solidFill>
                  <a:srgbClr val="1A1A2E"/>
                </a:solidFill>
              </a:rPr>
              <a:t>• التهابات متكررة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00000"/>
            <a:ext cx="1051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8000"/>
                </a:solidFill>
              </a:rPr>
              <a:t>Safety Verdict:  Grounding = 0.9  |  Confidence = 0.9  |  ✓ Answer Accepted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00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66666"/>
                </a:solidFill>
              </a:rPr>
              <a:t>Mode: hybrid_rerank  |  LLM: Llama-3.1-8B-Instant (Groq)  |  Latency: ~4 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  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BGE-M3 over monolingual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Best multilingual embedding for Arabic+English; 1024-dim captures medical semantics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7510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Groq API over local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94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Fast inference (~2 s), saves GPU memory — trade-off: 500K tokens/day free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LLM Judge over cosine 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Can reason about paraphrasing and Arabic synonyms; cosine gave false negatives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6499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Dense-primary fusion (0.8 / 0.2)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393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BM25 cannot cross the language barrier; dense handles it natively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5993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Disabled reranker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3425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Cross-encoder degraded Arabic Recall@1 to 0.004 in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Calibri"/>
              </a:defRPr>
            </a:pPr>
            <a:r>
              <a:t>Overlapping chunks (40-word overlap)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Medical concepts span paragraph boundaries; prevents information loss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15  System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Embedding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BAAI/bge-m3 (1024-d)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Multilingual dense retrieval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Reranker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bge-reranker-v2-m3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Cross-encoder (disabled)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Llama-3.1-8B (Groq)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Generation + Judge + Translation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Dense / BM25 weight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0.80 / 0.20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fusion balance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Top-K (dense / BM25)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 / 20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Initial retrieval candidates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Top-K final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fusion + reranking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Similarity threshold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 score for selection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Chunk size / overlap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 / 40 words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 chunking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context tokens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1500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LLM prompt budget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Judge reject threshold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&lt; 0.3 grounding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Answer rejection gate</a:t>
                      </a:r>
                    </a:p>
                  </a:txBody>
                  <a:tcPr anchor="ctr">
                    <a:solidFill>
                      <a:srgbClr val="1E22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limit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60 req/min/IP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API protection</a:t>
                      </a:r>
                    </a:p>
                  </a:txBody>
                  <a:tcPr anchor="ctr">
                    <a:solidFill>
                      <a:srgbClr val="2226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16  Testing &amp; Evaluation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Unit Tests (7 files)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test_retrieval.py — fusion, RRF, reranker, expansion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test_safety.py — emergency detection, content filter, PII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test_indexing.py — embedder shape, vector store, BM25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test_calibration.py — ECE, model training, synthetic data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test_api.py — /health, /ready, /ask endpoints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test_arabic_evaluation.py — dataset structure validation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0C0C0"/>
                </a:solidFill>
                <a:latin typeface="Calibri"/>
              </a:defRPr>
            </a:pPr>
            <a:r>
              <a:t>test_calibration_data.py — logging, labeling,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Evaluation 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evaluate_retrieval.py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74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4 modes × 99 queries → CSV + plots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evaluate_plots.py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End-to-end with Qwen2.5-32B (local)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971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Recall@k, MRR, nDCG@k, ECE, grounding rate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17  Recommendations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0556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Human-annotated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Replace auto-generated GT with expert relevance judgments for valid evaluation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3928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Upgrade Groq API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128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Free tier (500K tokens/day) is insufficient for production or heavy evaluation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22296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9689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Consider dense-only mode as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7121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Hybrid fusion dilutes dense signal without meaningful BM25 benefit for Arabic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280664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5526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Fine-tune reranker on Arabic medical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29584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Or remove it — current cross-encoder degrades Arabic ranking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39032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1363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Add Arabic medical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879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English-only source limits BM25; Arabic literature would reduce translation dependency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59740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Implement query caching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C0"/>
                </a:solidFill>
                <a:latin typeface="Calibri"/>
              </a:defRPr>
            </a:pPr>
            <a:r>
              <a:t>Reduce API calls and latency for repeated queries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B4D8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